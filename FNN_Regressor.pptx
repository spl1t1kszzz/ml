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DrCTPc4HrfGacwq/dsJetwPvA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B8AF57-928B-4AC0-A480-627FDB84B73A}">
  <a:tblStyle styleId="{59B8AF57-928B-4AC0-A480-627FDB84B73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097280" y="457200"/>
            <a:ext cx="7772400" cy="4206240"/>
          </a:xfrm>
          <a:prstGeom prst="rect">
            <a:avLst/>
          </a:prstGeom>
          <a:solidFill>
            <a:srgbClr val="0D2137">
              <a:alpha val="90196"/>
            </a:srgbClr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97280" y="457200"/>
            <a:ext cx="109728" cy="420624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371600" y="82296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Нейронная сеть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371600" y="146304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прямого распространения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371600" y="2148840"/>
            <a:ext cx="3200400" cy="36576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371600" y="228600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Регрессор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371600" y="31089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Архитектура · Обучение · Применение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Что такое нейронная сеть прямого распространения?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74320" y="914400"/>
            <a:ext cx="4114800" cy="347472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274320" y="914400"/>
            <a:ext cx="91440" cy="3474720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0292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Определение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" y="1417320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Feedforward Neural Network (FNN) — класс искусственных нейронных сетей, в которых сигнал распространяется строго в одном направлении: от входного слоя через скрытые слои к выходному.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Обратных связей нет — информация движется только вперёд.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3017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Ключевые свойства: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2920" y="33375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Нет циклов и обратных соединений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Несколько слоёв (входной, скрытые, выходной)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Обучается методом обратного распространения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2"/>
          <p:cNvCxnSpPr/>
          <p:nvPr/>
        </p:nvCxnSpPr>
        <p:spPr>
          <a:xfrm>
            <a:off x="5230368" y="1106424"/>
            <a:ext cx="1261872" cy="36576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2"/>
          <p:cNvCxnSpPr/>
          <p:nvPr/>
        </p:nvCxnSpPr>
        <p:spPr>
          <a:xfrm>
            <a:off x="5230368" y="1106424"/>
            <a:ext cx="1261872" cy="100584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2"/>
          <p:cNvCxnSpPr/>
          <p:nvPr/>
        </p:nvCxnSpPr>
        <p:spPr>
          <a:xfrm>
            <a:off x="5230368" y="1106424"/>
            <a:ext cx="1261872" cy="164592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2"/>
          <p:cNvCxnSpPr/>
          <p:nvPr/>
        </p:nvCxnSpPr>
        <p:spPr>
          <a:xfrm>
            <a:off x="5230368" y="1106424"/>
            <a:ext cx="1261872" cy="22860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2"/>
          <p:cNvCxnSpPr/>
          <p:nvPr/>
        </p:nvCxnSpPr>
        <p:spPr>
          <a:xfrm flipH="1" rot="10800000">
            <a:off x="5230368" y="1472184"/>
            <a:ext cx="1261872" cy="27432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2"/>
          <p:cNvCxnSpPr/>
          <p:nvPr/>
        </p:nvCxnSpPr>
        <p:spPr>
          <a:xfrm>
            <a:off x="5230368" y="1746504"/>
            <a:ext cx="1261872" cy="36576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2"/>
          <p:cNvCxnSpPr/>
          <p:nvPr/>
        </p:nvCxnSpPr>
        <p:spPr>
          <a:xfrm>
            <a:off x="5230368" y="1746504"/>
            <a:ext cx="1261872" cy="100584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2"/>
          <p:cNvCxnSpPr/>
          <p:nvPr/>
        </p:nvCxnSpPr>
        <p:spPr>
          <a:xfrm>
            <a:off x="5230368" y="1746504"/>
            <a:ext cx="1261872" cy="164592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2"/>
          <p:cNvCxnSpPr/>
          <p:nvPr/>
        </p:nvCxnSpPr>
        <p:spPr>
          <a:xfrm flipH="1" rot="10800000">
            <a:off x="5230368" y="1472184"/>
            <a:ext cx="1261872" cy="9144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2"/>
          <p:cNvCxnSpPr/>
          <p:nvPr/>
        </p:nvCxnSpPr>
        <p:spPr>
          <a:xfrm flipH="1" rot="10800000">
            <a:off x="5230368" y="2112264"/>
            <a:ext cx="1261872" cy="27432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2"/>
          <p:cNvCxnSpPr/>
          <p:nvPr/>
        </p:nvCxnSpPr>
        <p:spPr>
          <a:xfrm>
            <a:off x="5230368" y="2386584"/>
            <a:ext cx="1261872" cy="36576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5230368" y="2386584"/>
            <a:ext cx="1261872" cy="100584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2"/>
          <p:cNvCxnSpPr/>
          <p:nvPr/>
        </p:nvCxnSpPr>
        <p:spPr>
          <a:xfrm flipH="1" rot="10800000">
            <a:off x="5230368" y="1472184"/>
            <a:ext cx="1261872" cy="155448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2"/>
          <p:cNvCxnSpPr/>
          <p:nvPr/>
        </p:nvCxnSpPr>
        <p:spPr>
          <a:xfrm flipH="1" rot="10800000">
            <a:off x="5230368" y="2112264"/>
            <a:ext cx="1261872" cy="9144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2"/>
          <p:cNvCxnSpPr/>
          <p:nvPr/>
        </p:nvCxnSpPr>
        <p:spPr>
          <a:xfrm flipH="1" rot="10800000">
            <a:off x="5230368" y="2752344"/>
            <a:ext cx="1261872" cy="27432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2"/>
          <p:cNvCxnSpPr/>
          <p:nvPr/>
        </p:nvCxnSpPr>
        <p:spPr>
          <a:xfrm>
            <a:off x="5230368" y="3026664"/>
            <a:ext cx="1261872" cy="36576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2"/>
          <p:cNvCxnSpPr/>
          <p:nvPr/>
        </p:nvCxnSpPr>
        <p:spPr>
          <a:xfrm flipH="1" rot="10800000">
            <a:off x="5230368" y="1472184"/>
            <a:ext cx="1261872" cy="219456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2"/>
          <p:cNvCxnSpPr/>
          <p:nvPr/>
        </p:nvCxnSpPr>
        <p:spPr>
          <a:xfrm flipH="1" rot="10800000">
            <a:off x="5230368" y="2112264"/>
            <a:ext cx="1261872" cy="155448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2"/>
          <p:cNvCxnSpPr/>
          <p:nvPr/>
        </p:nvCxnSpPr>
        <p:spPr>
          <a:xfrm flipH="1" rot="10800000">
            <a:off x="5230368" y="2752344"/>
            <a:ext cx="1261872" cy="9144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2"/>
          <p:cNvCxnSpPr/>
          <p:nvPr/>
        </p:nvCxnSpPr>
        <p:spPr>
          <a:xfrm flipH="1" rot="10800000">
            <a:off x="5230368" y="3392424"/>
            <a:ext cx="1261872" cy="27432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2"/>
          <p:cNvCxnSpPr/>
          <p:nvPr/>
        </p:nvCxnSpPr>
        <p:spPr>
          <a:xfrm>
            <a:off x="6693408" y="1472184"/>
            <a:ext cx="1261872" cy="64008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2"/>
          <p:cNvCxnSpPr/>
          <p:nvPr/>
        </p:nvCxnSpPr>
        <p:spPr>
          <a:xfrm>
            <a:off x="6693408" y="1472184"/>
            <a:ext cx="1261872" cy="13716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2"/>
          <p:cNvCxnSpPr/>
          <p:nvPr/>
        </p:nvCxnSpPr>
        <p:spPr>
          <a:xfrm>
            <a:off x="6693408" y="2112264"/>
            <a:ext cx="1261872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2"/>
          <p:cNvCxnSpPr/>
          <p:nvPr/>
        </p:nvCxnSpPr>
        <p:spPr>
          <a:xfrm>
            <a:off x="6693408" y="2112264"/>
            <a:ext cx="1261872" cy="73152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2"/>
          <p:cNvCxnSpPr/>
          <p:nvPr/>
        </p:nvCxnSpPr>
        <p:spPr>
          <a:xfrm flipH="1" rot="10800000">
            <a:off x="6693408" y="2112264"/>
            <a:ext cx="1261872" cy="64008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2"/>
          <p:cNvCxnSpPr/>
          <p:nvPr/>
        </p:nvCxnSpPr>
        <p:spPr>
          <a:xfrm>
            <a:off x="6693408" y="2752344"/>
            <a:ext cx="1261872" cy="9144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 flipH="1" rot="10800000">
            <a:off x="6693408" y="2112264"/>
            <a:ext cx="1261872" cy="128016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2"/>
          <p:cNvCxnSpPr/>
          <p:nvPr/>
        </p:nvCxnSpPr>
        <p:spPr>
          <a:xfrm flipH="1" rot="10800000">
            <a:off x="6693408" y="2843784"/>
            <a:ext cx="1261872" cy="54864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2"/>
          <p:cNvSpPr/>
          <p:nvPr/>
        </p:nvSpPr>
        <p:spPr>
          <a:xfrm>
            <a:off x="5029200" y="100584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029200" y="164592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5029200" y="228600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5029200" y="292608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029200" y="356616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492240" y="137160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492240" y="201168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492240" y="265176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492240" y="329184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7955280" y="201168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7955280" y="2743200"/>
            <a:ext cx="201168" cy="201168"/>
          </a:xfrm>
          <a:prstGeom prst="ellipse">
            <a:avLst/>
          </a:prstGeom>
          <a:solidFill>
            <a:srgbClr val="0080FF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800600" y="393192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Вход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(x₁…xₙ)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263640" y="393192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Скрытый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слой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7772400" y="393192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Выход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ŷ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E5A0"/>
          </a:solidFill>
          <a:ln cap="flat" cmpd="sng" w="1270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Архитектура сети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74320" y="914400"/>
            <a:ext cx="2651760" cy="374904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274320" y="914400"/>
            <a:ext cx="2651760" cy="73152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280160" y="1097280"/>
            <a:ext cx="640080" cy="640080"/>
          </a:xfrm>
          <a:prstGeom prst="ellipse">
            <a:avLst/>
          </a:prstGeom>
          <a:solidFill>
            <a:srgbClr val="0080FF">
              <a:alpha val="40000"/>
            </a:srgbClr>
          </a:solidFill>
          <a:ln cap="flat" cmpd="sng" w="254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280160" y="1097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080FF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11480" y="18745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Входной слой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150" y="2036625"/>
            <a:ext cx="2377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Принимает исходные признаки объекта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Размер = кол-во признаков (p)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Без функции активации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Нормализация входных данных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337560" y="914400"/>
            <a:ext cx="2651760" cy="374904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337560" y="914400"/>
            <a:ext cx="2651760" cy="73152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343400" y="1097280"/>
            <a:ext cx="640080" cy="640080"/>
          </a:xfrm>
          <a:prstGeom prst="ellipse">
            <a:avLst/>
          </a:prstGeom>
          <a:solidFill>
            <a:srgbClr val="00C2E0">
              <a:alpha val="40000"/>
            </a:srgbClr>
          </a:solidFill>
          <a:ln cap="flat" cmpd="sng" w="254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343400" y="1097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0C2E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474720" y="18745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Скрытые слои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520440" y="2212825"/>
            <a:ext cx="2377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Извлекают нелинейные зависимости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Произвольное число </a:t>
            </a:r>
            <a:r>
              <a:rPr lang="en-US" sz="1150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слоев</a:t>
            </a: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 и нейронов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Применяют функцию активации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Больше слоёв → сложнее функции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400800" y="914400"/>
            <a:ext cx="2651760" cy="374904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400800" y="914400"/>
            <a:ext cx="2651760" cy="73152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7406640" y="1097280"/>
            <a:ext cx="640080" cy="640080"/>
          </a:xfrm>
          <a:prstGeom prst="ellipse">
            <a:avLst/>
          </a:prstGeom>
          <a:solidFill>
            <a:srgbClr val="FF8C42">
              <a:alpha val="40000"/>
            </a:srgbClr>
          </a:solidFill>
          <a:ln cap="flat" cmpd="sng" w="254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406640" y="1097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537960" y="18745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Выходной слой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583755" y="2036625"/>
            <a:ext cx="2377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1 нейрон (задача регрессии)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Линейная активация (identity)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Предсказывает числовое значение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ŷ ∈ ℝ (непрерывное значение)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>
            <a:off x="2944368" y="2788920"/>
            <a:ext cx="384048" cy="0"/>
          </a:xfrm>
          <a:prstGeom prst="straightConnector1">
            <a:avLst/>
          </a:prstGeom>
          <a:noFill/>
          <a:ln cap="flat" cmpd="sng" w="254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3"/>
          <p:cNvCxnSpPr/>
          <p:nvPr/>
        </p:nvCxnSpPr>
        <p:spPr>
          <a:xfrm>
            <a:off x="6007608" y="2788920"/>
            <a:ext cx="384048" cy="0"/>
          </a:xfrm>
          <a:prstGeom prst="straightConnector1">
            <a:avLst/>
          </a:prstGeom>
          <a:noFill/>
          <a:ln cap="flat" cmpd="sng" w="254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Математика нейрона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74320" y="868680"/>
            <a:ext cx="8595360" cy="123444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502920" y="9144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Вычисление выхода одного нейрона: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02920" y="11887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C2E0"/>
                </a:solidFill>
                <a:latin typeface="Consolas"/>
                <a:ea typeface="Consolas"/>
                <a:cs typeface="Consolas"/>
                <a:sym typeface="Consolas"/>
              </a:rPr>
              <a:t>z = w₁x₁ + w₂x₂ + … + wₙxₙ + b     →     a = f(z)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02920" y="17373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где  wᵢ — веса,  xᵢ — входы,  b — смещение (bias),  f — функция активации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74320" y="2286000"/>
            <a:ext cx="4023360" cy="246888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57200" y="2377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Матричная форма (слой)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57200" y="27432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Z = XW + 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= f(Z)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57200" y="347472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0D4F1"/>
                </a:solidFill>
                <a:latin typeface="Consolas"/>
                <a:ea typeface="Consolas"/>
                <a:cs typeface="Consolas"/>
                <a:sym typeface="Consolas"/>
              </a:rPr>
              <a:t>X  — матрица входов (m × p)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0D4F1"/>
                </a:solidFill>
                <a:latin typeface="Consolas"/>
                <a:ea typeface="Consolas"/>
                <a:cs typeface="Consolas"/>
                <a:sym typeface="Consolas"/>
              </a:rPr>
              <a:t>W  — матрица весов (p × 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0D4F1"/>
                </a:solidFill>
                <a:latin typeface="Consolas"/>
                <a:ea typeface="Consolas"/>
                <a:cs typeface="Consolas"/>
                <a:sym typeface="Consolas"/>
              </a:rPr>
              <a:t>b  — вектор смещений (1 × 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0D4F1"/>
                </a:solidFill>
                <a:latin typeface="Consolas"/>
                <a:ea typeface="Consolas"/>
                <a:cs typeface="Consolas"/>
                <a:sym typeface="Consolas"/>
              </a:rPr>
              <a:t>A  — матрица активаций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663440" y="2286000"/>
            <a:ext cx="4206240" cy="246888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4846320" y="23774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Прямой проход (Forward pass)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846320" y="2743200"/>
            <a:ext cx="256032" cy="256032"/>
          </a:xfrm>
          <a:prstGeom prst="ellipse">
            <a:avLst/>
          </a:prstGeom>
          <a:solidFill>
            <a:srgbClr val="0080FF">
              <a:alpha val="6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846320" y="27432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175504" y="27614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0D4F1"/>
                </a:solidFill>
                <a:latin typeface="Consolas"/>
                <a:ea typeface="Consolas"/>
                <a:cs typeface="Consolas"/>
                <a:sym typeface="Consolas"/>
              </a:rPr>
              <a:t>A⁽⁰⁾ = X              (вход)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846320" y="3227832"/>
            <a:ext cx="256032" cy="256032"/>
          </a:xfrm>
          <a:prstGeom prst="ellipse">
            <a:avLst/>
          </a:prstGeom>
          <a:solidFill>
            <a:srgbClr val="0080FF">
              <a:alpha val="6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846320" y="32278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175504" y="32461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0D4F1"/>
                </a:solidFill>
                <a:latin typeface="Consolas"/>
                <a:ea typeface="Consolas"/>
                <a:cs typeface="Consolas"/>
                <a:sym typeface="Consolas"/>
              </a:rPr>
              <a:t>Z⁽ˡ⁾ = A⁽ˡ⁻¹⁾W⁽ˡ⁾ + b⁽ˡ⁾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846320" y="3712464"/>
            <a:ext cx="256032" cy="256032"/>
          </a:xfrm>
          <a:prstGeom prst="ellipse">
            <a:avLst/>
          </a:prstGeom>
          <a:solidFill>
            <a:srgbClr val="0080FF">
              <a:alpha val="6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846320" y="37124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175504" y="37307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0D4F1"/>
                </a:solidFill>
                <a:latin typeface="Consolas"/>
                <a:ea typeface="Consolas"/>
                <a:cs typeface="Consolas"/>
                <a:sym typeface="Consolas"/>
              </a:rPr>
              <a:t>A⁽ˡ⁾ = f(Z⁽ˡ⁾)        (скрытые)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846320" y="4197096"/>
            <a:ext cx="256032" cy="256032"/>
          </a:xfrm>
          <a:prstGeom prst="ellipse">
            <a:avLst/>
          </a:prstGeom>
          <a:solidFill>
            <a:srgbClr val="0080FF">
              <a:alpha val="6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846320" y="419709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175504" y="421538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C2E0"/>
                </a:solidFill>
                <a:latin typeface="Consolas"/>
                <a:ea typeface="Consolas"/>
                <a:cs typeface="Consolas"/>
                <a:sym typeface="Consolas"/>
              </a:rPr>
              <a:t>ŷ = Z⁽ᴸ⁾               (выход)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Функции активации для регрессора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28600" y="914400"/>
            <a:ext cx="4160520" cy="169164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228600" y="914400"/>
            <a:ext cx="4160520" cy="64008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65760" y="102412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057400" y="102412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f(z) = max(0, z)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65760" y="1371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Где: Скрытые слои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65760" y="16276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✓  Быстрое обучение, нет затухания градиента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6576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✗  «</a:t>
            </a:r>
            <a:r>
              <a:rPr lang="en-US" sz="1100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Мертвые</a:t>
            </a:r>
            <a:r>
              <a:rPr b="0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» нейроны при z &lt;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28600" y="2834640"/>
            <a:ext cx="4160520" cy="169164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228600" y="2834640"/>
            <a:ext cx="4160520" cy="64008"/>
          </a:xfrm>
          <a:prstGeom prst="rect">
            <a:avLst/>
          </a:prstGeom>
          <a:solidFill>
            <a:srgbClr val="00E5A0"/>
          </a:solidFill>
          <a:ln cap="flat" cmpd="sng" w="1270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65760" y="294436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Leaky ReLU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2057400" y="294436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f(z) = max(αz, z)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65760" y="32918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Где: Скрытые слои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65760" y="35478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✓  Решает проблему </a:t>
            </a:r>
            <a:r>
              <a:rPr lang="en-US" sz="1100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мертвых</a:t>
            </a:r>
            <a:r>
              <a:rPr b="0" i="0" lang="en-US" sz="11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 нейронов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65760" y="3840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✗  Дополнительный гиперпараметр 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663440" y="914400"/>
            <a:ext cx="4160520" cy="169164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663440" y="914400"/>
            <a:ext cx="4160520" cy="64008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800600" y="102412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Tanh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492240" y="102412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f(z) = tanh(z)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800600" y="1371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Где: Скрытые слои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800600" y="16276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✓  Центрирован около нуля (−1…+1)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80060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✗  Затухание градиентов при больших |z|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663440" y="2834640"/>
            <a:ext cx="4160520" cy="169164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663440" y="2834640"/>
            <a:ext cx="4160520" cy="6400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4800600" y="294436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492240" y="294436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f(z) = 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800600" y="32918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Где: Выходной слой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800600" y="35478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✓  Предсказывает любое вещественное ŷ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800600" y="3840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✗  Только для выходного слоя регрессии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Для задачи регрессии: скрытые слои — нелинейные активации (ReLU, Tanh), выходной слой — линейная (identity)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Задача регрессии: постановка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74320" y="868680"/>
            <a:ext cx="8595360" cy="105156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Цель регрессии: по набору признаков X предсказать непрерывную числовую переменную y ∈ 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02920" y="132588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C2E0"/>
                </a:solidFill>
                <a:latin typeface="Consolas"/>
                <a:ea typeface="Consolas"/>
                <a:cs typeface="Consolas"/>
                <a:sym typeface="Consolas"/>
              </a:rPr>
              <a:t>Дано: обучающая выборка {(x⁽ⁱ⁾, y⁽ⁱ⁾)}  →  Найти: функцию f̂: ℝᵖ → ℝ, такую что f̂(x) ≈ 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74320" y="2057400"/>
            <a:ext cx="2834640" cy="150876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274320" y="21031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74320" y="25146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Недвижимость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65760" y="28346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Площадь, район, этаж → Цена квартиры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227832" y="2057400"/>
            <a:ext cx="2834640" cy="150876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3227832" y="21031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227832" y="25146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Энергетика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319272" y="28346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Температура, время суток → Потребление энергии (кВт·ч)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181344" y="2057400"/>
            <a:ext cx="2834640" cy="150876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181344" y="21031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181344" y="25146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Финансы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272784" y="28346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Макропоказатели, история → Курс акций / цена актива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95750" y="3636575"/>
            <a:ext cx="8687400" cy="1445700"/>
          </a:xfrm>
          <a:prstGeom prst="rect">
            <a:avLst/>
          </a:prstGeom>
          <a:solidFill>
            <a:srgbClr val="0D1F30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57200" y="370331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Регрессия  vs  Классификация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6"/>
          <p:cNvGraphicFramePr/>
          <p:nvPr/>
        </p:nvGraphicFramePr>
        <p:xfrm>
          <a:off x="502925" y="4017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{59B8AF57-928B-4AC0-A480-627FDB84B73A}</a:tableStyleId>
              </a:tblPr>
              <a:tblGrid>
                <a:gridCol w="2727950"/>
                <a:gridCol w="2727950"/>
                <a:gridCol w="2727950"/>
              </a:tblGrid>
              <a:tr h="22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94B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C94B8"/>
                          </a:solidFill>
                        </a:rPr>
                        <a:t>Признак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E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C2E0"/>
                          </a:solidFill>
                        </a:rPr>
                        <a:t>Регрессия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C4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8C42"/>
                          </a:solidFill>
                        </a:rPr>
                        <a:t>Классификация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</a:tr>
              <a:tr h="20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D4F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D4F1"/>
                          </a:solidFill>
                        </a:rPr>
                        <a:t>Выход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D4F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D4F1"/>
                          </a:solidFill>
                        </a:rPr>
                        <a:t>ŷ ∈ ℝ  (число)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D4F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D4F1"/>
                          </a:solidFill>
                        </a:rPr>
                        <a:t>ŷ ∈ {0,1,…,K}  (класс)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</a:tr>
              <a:tr h="20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D4F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D4F1"/>
                          </a:solidFill>
                        </a:rPr>
                        <a:t>Активация выхода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D4F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D4F1"/>
                          </a:solidFill>
                        </a:rPr>
                        <a:t>Linear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D4F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D4F1"/>
                          </a:solidFill>
                        </a:rPr>
                        <a:t>Sigmoid / Softmax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</a:tr>
              <a:tr h="20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D4F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D4F1"/>
                          </a:solidFill>
                        </a:rPr>
                        <a:t>Функция потерь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D4F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D4F1"/>
                          </a:solidFill>
                        </a:rPr>
                        <a:t>MSE / MAE / Huber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D4F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D4F1"/>
                          </a:solidFill>
                        </a:rPr>
                        <a:t>Cross-entropy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E5A0"/>
          </a:solidFill>
          <a:ln cap="flat" cmpd="sng" w="1270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Функции потерь и процесс обучения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457200" y="96012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Функции потерь для регрессии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57200" y="1371600"/>
            <a:ext cx="3749040" cy="914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94360" y="141732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0C2E0"/>
                </a:solidFill>
                <a:latin typeface="Consolas"/>
                <a:ea typeface="Consolas"/>
                <a:cs typeface="Consolas"/>
                <a:sym typeface="Consolas"/>
              </a:rPr>
              <a:t>MSE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371600" y="14173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Mean Squared Error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94360" y="17190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 = 1/m Σ(yᵢ − ŷᵢ)²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94360" y="198424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Чувствителен к выбросам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57200" y="2468880"/>
            <a:ext cx="3749040" cy="914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594360" y="251460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0C2E0"/>
                </a:solidFill>
                <a:latin typeface="Consolas"/>
                <a:ea typeface="Consolas"/>
                <a:cs typeface="Consolas"/>
                <a:sym typeface="Consolas"/>
              </a:rPr>
              <a:t>MAE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371600" y="25146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Mean Absolute Error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94360" y="28163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 = 1/m Σ|yᵢ − ŷᵢ|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94360" y="30815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Устойчив </a:t>
            </a:r>
            <a:r>
              <a:rPr b="0" i="1" lang="en-US" sz="10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к выбросам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57200" y="3566160"/>
            <a:ext cx="3749040" cy="914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594360" y="361188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0C2E0"/>
                </a:solidFill>
                <a:latin typeface="Consolas"/>
                <a:ea typeface="Consolas"/>
                <a:cs typeface="Consolas"/>
                <a:sym typeface="Consolas"/>
              </a:rPr>
              <a:t>Huber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371600" y="36118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Huber Loss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94360" y="39136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Смесь MSE и MAE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94360" y="417880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Лучший баланс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846320" y="9601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Цикл обучения (Gradient Descent)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846320" y="1408176"/>
            <a:ext cx="274320" cy="274320"/>
          </a:xfrm>
          <a:prstGeom prst="ellipse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846320" y="1408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212080" y="13716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Инициализация весов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212080" y="160934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onsolas"/>
                <a:ea typeface="Consolas"/>
                <a:cs typeface="Consolas"/>
                <a:sym typeface="Consolas"/>
              </a:rPr>
              <a:t>Xavier / He initialization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7"/>
          <p:cNvCxnSpPr/>
          <p:nvPr/>
        </p:nvCxnSpPr>
        <p:spPr>
          <a:xfrm>
            <a:off x="4974336" y="1691640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1A4A7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32" name="Google Shape;232;p7"/>
          <p:cNvSpPr/>
          <p:nvPr/>
        </p:nvSpPr>
        <p:spPr>
          <a:xfrm>
            <a:off x="4846320" y="1975104"/>
            <a:ext cx="274320" cy="274320"/>
          </a:xfrm>
          <a:prstGeom prst="ellipse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4846320" y="19751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212080" y="19385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Прямой проход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212080" y="217627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onsolas"/>
                <a:ea typeface="Consolas"/>
                <a:cs typeface="Consolas"/>
                <a:sym typeface="Consolas"/>
              </a:rPr>
              <a:t>Вычислить ŷ = fwd(X, W, b)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7"/>
          <p:cNvCxnSpPr/>
          <p:nvPr/>
        </p:nvCxnSpPr>
        <p:spPr>
          <a:xfrm>
            <a:off x="4974336" y="2258568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1A4A7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37" name="Google Shape;237;p7"/>
          <p:cNvSpPr/>
          <p:nvPr/>
        </p:nvSpPr>
        <p:spPr>
          <a:xfrm>
            <a:off x="4846320" y="2542032"/>
            <a:ext cx="274320" cy="274320"/>
          </a:xfrm>
          <a:prstGeom prst="ellipse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846320" y="25420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212080" y="2505456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Вычислить потери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212080" y="27432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onsolas"/>
                <a:ea typeface="Consolas"/>
                <a:cs typeface="Consolas"/>
                <a:sym typeface="Consolas"/>
              </a:rPr>
              <a:t>L(y, ŷ) = MSE или MAE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7"/>
          <p:cNvCxnSpPr/>
          <p:nvPr/>
        </p:nvCxnSpPr>
        <p:spPr>
          <a:xfrm>
            <a:off x="4974336" y="2825496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1A4A7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42" name="Google Shape;242;p7"/>
          <p:cNvSpPr/>
          <p:nvPr/>
        </p:nvSpPr>
        <p:spPr>
          <a:xfrm>
            <a:off x="4846320" y="3108960"/>
            <a:ext cx="274320" cy="274320"/>
          </a:xfrm>
          <a:prstGeom prst="ellipse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4846320" y="31089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212080" y="307238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Обратный проход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212080" y="331012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onsolas"/>
                <a:ea typeface="Consolas"/>
                <a:cs typeface="Consolas"/>
                <a:sym typeface="Consolas"/>
              </a:rPr>
              <a:t>Вычислить ∂L/∂W, ∂L/∂b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7"/>
          <p:cNvCxnSpPr/>
          <p:nvPr/>
        </p:nvCxnSpPr>
        <p:spPr>
          <a:xfrm>
            <a:off x="4974336" y="3392424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1A4A7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47" name="Google Shape;247;p7"/>
          <p:cNvSpPr/>
          <p:nvPr/>
        </p:nvSpPr>
        <p:spPr>
          <a:xfrm>
            <a:off x="4846320" y="3675888"/>
            <a:ext cx="274320" cy="274320"/>
          </a:xfrm>
          <a:prstGeom prst="ellipse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846320" y="36758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212080" y="363931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Обновить веса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212080" y="38770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onsolas"/>
                <a:ea typeface="Consolas"/>
                <a:cs typeface="Consolas"/>
                <a:sym typeface="Consolas"/>
              </a:rPr>
              <a:t>W ← W − η·∂L/∂W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7"/>
          <p:cNvCxnSpPr/>
          <p:nvPr/>
        </p:nvCxnSpPr>
        <p:spPr>
          <a:xfrm>
            <a:off x="4974336" y="395935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1A4A7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52" name="Google Shape;252;p7"/>
          <p:cNvSpPr/>
          <p:nvPr/>
        </p:nvSpPr>
        <p:spPr>
          <a:xfrm>
            <a:off x="4837083" y="4187941"/>
            <a:ext cx="274200" cy="274200"/>
          </a:xfrm>
          <a:prstGeom prst="ellipse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837158" y="418794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5212080" y="4178790"/>
            <a:ext cx="347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Повторять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212143" y="4370709"/>
            <a:ext cx="347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C94B8"/>
                </a:solidFill>
                <a:latin typeface="Consolas"/>
                <a:ea typeface="Consolas"/>
                <a:cs typeface="Consolas"/>
                <a:sym typeface="Consolas"/>
              </a:rPr>
              <a:t>Пока не </a:t>
            </a:r>
            <a:r>
              <a:rPr lang="en-US" sz="1050">
                <a:solidFill>
                  <a:srgbClr val="6C94B8"/>
                </a:solidFill>
                <a:latin typeface="Consolas"/>
                <a:ea typeface="Consolas"/>
                <a:cs typeface="Consolas"/>
                <a:sym typeface="Consolas"/>
              </a:rPr>
              <a:t>сойдется</a:t>
            </a:r>
            <a:r>
              <a:rPr b="0" i="0" lang="en-US" sz="1050" u="none" cap="none" strike="noStrike">
                <a:solidFill>
                  <a:srgbClr val="6C94B8"/>
                </a:solidFill>
                <a:latin typeface="Consolas"/>
                <a:ea typeface="Consolas"/>
                <a:cs typeface="Consolas"/>
                <a:sym typeface="Consolas"/>
              </a:rPr>
              <a:t> / max эпох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663440" y="4572000"/>
            <a:ext cx="4206240" cy="228600"/>
          </a:xfrm>
          <a:prstGeom prst="rect">
            <a:avLst/>
          </a:prstGeom>
          <a:solidFill>
            <a:srgbClr val="0A1E30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4800600" y="45902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η — скорость обучения (learning rate), типично: 0.001 – 0.01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Обратное распространение ошибки (Backpropagation)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Метод вычисления градиентов через цепное правило дифференцирования. Позволяет эффективно обновить все веса сети.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274320" y="1645920"/>
            <a:ext cx="4114800" cy="1828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457200" y="1719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Цепное правило: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57200" y="201168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∂L/∂W⁽ˡ⁾ = ∂L/∂A⁽ˡ⁾ · ∂A⁽ˡ⁾/∂Z⁽ˡ⁾ · ∂Z⁽ˡ⁾/∂W⁽ˡ⁾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57200" y="2487168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δ⁽ˡ⁾ — сигнал ошибки слоя 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Передается</a:t>
            </a: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 от выхода к входу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∂A/∂Z = производная f(z)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663440" y="1645920"/>
            <a:ext cx="4206240" cy="1828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4846320" y="17190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Обновление параметров (SGD):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846320" y="203911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 ← W − η · ∂L/∂W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 ← b − η · ∂L/∂b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846320" y="269748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η = learning rate (0.001–0.01)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Adam / RMSProp — адаптивные η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Mini-batch SGD — быстрее сходится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Популярные оптимизаторы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57200" y="4041648"/>
            <a:ext cx="1965960" cy="658368"/>
          </a:xfrm>
          <a:prstGeom prst="rect">
            <a:avLst/>
          </a:prstGeom>
          <a:solidFill>
            <a:srgbClr val="0A1E30"/>
          </a:solidFill>
          <a:ln cap="flat" cmpd="sng" w="12700">
            <a:solidFill>
              <a:srgbClr val="6C9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502920" y="40965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6C94B8"/>
                </a:solidFill>
                <a:latin typeface="Consolas"/>
                <a:ea typeface="Consolas"/>
                <a:cs typeface="Consolas"/>
                <a:sym typeface="Consolas"/>
              </a:rPr>
              <a:t>SGD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02920" y="437083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Базовый, устойчив, медленен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2606040" y="4041648"/>
            <a:ext cx="1965960" cy="658368"/>
          </a:xfrm>
          <a:prstGeom prst="rect">
            <a:avLst/>
          </a:prstGeom>
          <a:solidFill>
            <a:srgbClr val="0A1E30"/>
          </a:solidFill>
          <a:ln cap="flat" cmpd="sng" w="12700">
            <a:solidFill>
              <a:srgbClr val="B0D4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2651760" y="40965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B0D4F1"/>
                </a:solidFill>
                <a:latin typeface="Consolas"/>
                <a:ea typeface="Consolas"/>
                <a:cs typeface="Consolas"/>
                <a:sym typeface="Consolas"/>
              </a:rPr>
              <a:t>Momentum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2651760" y="437083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Учет</a:t>
            </a:r>
            <a:r>
              <a:rPr b="0" i="0" lang="en-US" sz="9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 накопленных градиентов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754880" y="4041648"/>
            <a:ext cx="1965960" cy="658368"/>
          </a:xfrm>
          <a:prstGeom prst="rect">
            <a:avLst/>
          </a:prstGeom>
          <a:solidFill>
            <a:srgbClr val="0A1E3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4800600" y="40965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onsolas"/>
                <a:ea typeface="Consolas"/>
                <a:cs typeface="Consolas"/>
                <a:sym typeface="Consolas"/>
              </a:rPr>
              <a:t>RMSProp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800600" y="437083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Адаптивный η по каждому весу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6903720" y="4041648"/>
            <a:ext cx="1965960" cy="658368"/>
          </a:xfrm>
          <a:prstGeom prst="rect">
            <a:avLst/>
          </a:prstGeom>
          <a:solidFill>
            <a:srgbClr val="0A1E30"/>
          </a:solidFill>
          <a:ln cap="flat" cmpd="sng" w="1270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6949440" y="40965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E5A0"/>
                </a:solidFill>
                <a:latin typeface="Consolas"/>
                <a:ea typeface="Consolas"/>
                <a:cs typeface="Consolas"/>
                <a:sym typeface="Consolas"/>
              </a:rPr>
              <a:t>Adam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6949440" y="437083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Momentum + RMSProp, лучший выбор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Переобучение и методы регуляризации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274320" y="868680"/>
            <a:ext cx="2743200" cy="393192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274320" y="868680"/>
            <a:ext cx="2743200" cy="64008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11480" y="10058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11480" y="1371600"/>
            <a:ext cx="2468880" cy="347472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457200" y="1389888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onsolas"/>
                <a:ea typeface="Consolas"/>
                <a:cs typeface="Consolas"/>
                <a:sym typeface="Consolas"/>
              </a:rPr>
              <a:t>p ∈ [0.1, 0.5]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411480" y="18288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Случайно отключает нейроны во время обучения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411480" y="246888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Снижает зависимость нейронов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Работает как ансамбль сетей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Применяется только при обучении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3246120" y="868680"/>
            <a:ext cx="2743200" cy="393192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3246120" y="868680"/>
            <a:ext cx="2743200" cy="64008"/>
          </a:xfrm>
          <a:prstGeom prst="rect">
            <a:avLst/>
          </a:prstGeom>
          <a:solidFill>
            <a:srgbClr val="00E5A0"/>
          </a:solidFill>
          <a:ln cap="flat" cmpd="sng" w="1270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383280" y="10058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L2 (Ridge)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3383280" y="1371600"/>
            <a:ext cx="2468880" cy="347472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3429000" y="1389888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E5A0"/>
                </a:solidFill>
                <a:latin typeface="Consolas"/>
                <a:ea typeface="Consolas"/>
                <a:cs typeface="Consolas"/>
                <a:sym typeface="Consolas"/>
              </a:rPr>
              <a:t>L₂ = λ Σ wᵢ²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3383280" y="18288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Штраф на большие веса, добавляется к функции потерь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383280" y="246888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Веса стремятся к нулю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Предотвращает резкие отклики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Типичное λ: 0.0001 – 0.01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217920" y="868680"/>
            <a:ext cx="2743200" cy="393192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6217920" y="868680"/>
            <a:ext cx="2743200" cy="6400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6355080" y="10058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Early Stopping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355080" y="1371600"/>
            <a:ext cx="2468880" cy="347472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6400800" y="1389888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Мониторинг val_loss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355080" y="18288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Остановка обучения при росте ошибки на валидации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355080" y="246888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Простой и эффективный метод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Сохранить лучшие веса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Patience = N эпох без улучшений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Рекомендация: начать с Dropout (p=0.2) + L2 (λ=0.001) + Early Stopping для большинства задач регрессии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E5A0"/>
          </a:solidFill>
          <a:ln cap="flat" cmpd="sng" w="1270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Метрики качества регрессии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274320" y="914400"/>
            <a:ext cx="4160520" cy="182880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411480" y="1024128"/>
            <a:ext cx="914400" cy="347472"/>
          </a:xfrm>
          <a:prstGeom prst="rect">
            <a:avLst/>
          </a:prstGeom>
          <a:solidFill>
            <a:srgbClr val="00C2E0">
              <a:alpha val="80000"/>
            </a:srgbClr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411480" y="102412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rPr>
              <a:t>MAE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1417320" y="105156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Mean Absolute 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411480" y="1481328"/>
            <a:ext cx="3840480" cy="36576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457200" y="149961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C2E0"/>
                </a:solidFill>
                <a:latin typeface="Consolas"/>
                <a:ea typeface="Consolas"/>
                <a:cs typeface="Consolas"/>
                <a:sym typeface="Consolas"/>
              </a:rPr>
              <a:t>1/m Σ |yᵢ − ŷᵢ|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11480" y="194767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Интуитивно понятна.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709160" y="914400"/>
            <a:ext cx="4160520" cy="182880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4846320" y="1024128"/>
            <a:ext cx="914400" cy="347472"/>
          </a:xfrm>
          <a:prstGeom prst="rect">
            <a:avLst/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4846320" y="102412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rPr>
              <a:t>MSE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852160" y="105156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Mean Squared 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846320" y="1481328"/>
            <a:ext cx="3840480" cy="36576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4892040" y="149961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80FF"/>
                </a:solidFill>
                <a:latin typeface="Consolas"/>
                <a:ea typeface="Consolas"/>
                <a:cs typeface="Consolas"/>
                <a:sym typeface="Consolas"/>
              </a:rPr>
              <a:t>1/m Σ (yᵢ − ŷᵢ)²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4846320" y="194767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Штрафует большие ошибки сильнее. Дифференцируема.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274320" y="3017520"/>
            <a:ext cx="4160520" cy="182880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11480" y="3127248"/>
            <a:ext cx="914400" cy="347472"/>
          </a:xfrm>
          <a:prstGeom prst="rect">
            <a:avLst/>
          </a:prstGeom>
          <a:solidFill>
            <a:srgbClr val="FF8C42">
              <a:alpha val="80000"/>
            </a:srgbClr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411480" y="312724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rPr>
              <a:t>RMSE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1417320" y="315468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Root Mean Squared 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11480" y="3584448"/>
            <a:ext cx="3840480" cy="36576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457200" y="360273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√MSE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11480" y="405079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Уч</a:t>
            </a:r>
            <a:r>
              <a:rPr b="0" i="0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итывает большие выбросы.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709160" y="3017520"/>
            <a:ext cx="4160520" cy="182880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4846320" y="3127248"/>
            <a:ext cx="914400" cy="347472"/>
          </a:xfrm>
          <a:prstGeom prst="rect">
            <a:avLst/>
          </a:prstGeom>
          <a:solidFill>
            <a:srgbClr val="00E5A0">
              <a:alpha val="80000"/>
            </a:srgbClr>
          </a:solidFill>
          <a:ln cap="flat" cmpd="sng" w="1270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4846320" y="312724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rPr>
              <a:t>R²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5852160" y="315468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Coefficient of Determination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846320" y="3584448"/>
            <a:ext cx="3840480" cy="36576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4892040" y="360273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E5A0"/>
                </a:solidFill>
                <a:latin typeface="Consolas"/>
                <a:ea typeface="Consolas"/>
                <a:cs typeface="Consolas"/>
                <a:sym typeface="Consolas"/>
              </a:rPr>
              <a:t>1 − SS_res / SS_tot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4846320" y="405079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Доля </a:t>
            </a:r>
            <a:r>
              <a:rPr lang="en-US" sz="1100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объясненной</a:t>
            </a:r>
            <a:r>
              <a:rPr b="0" i="0" lang="en-US" sz="11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 дисперсии. Лучше = ближе к 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274320" y="486917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94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C94B8"/>
                </a:solidFill>
                <a:latin typeface="Calibri"/>
                <a:ea typeface="Calibri"/>
                <a:cs typeface="Calibri"/>
                <a:sym typeface="Calibri"/>
              </a:rPr>
              <a:t>Основная метрика выбирается под задачу: MAE — если важна средняя ошибка, R² — если нужна интерпретируемость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274320" y="274320"/>
            <a:ext cx="822960" cy="822960"/>
          </a:xfrm>
          <a:prstGeom prst="ellipse">
            <a:avLst/>
          </a:prstGeom>
          <a:solidFill>
            <a:srgbClr val="0080FF">
              <a:alpha val="30196"/>
            </a:srgbClr>
          </a:solidFill>
          <a:ln cap="flat" cmpd="sng" w="9525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2011680" y="548640"/>
            <a:ext cx="457200" cy="457200"/>
          </a:xfrm>
          <a:prstGeom prst="ellipse">
            <a:avLst/>
          </a:prstGeom>
          <a:solidFill>
            <a:srgbClr val="0080FF">
              <a:alpha val="20000"/>
            </a:srgbClr>
          </a:solidFill>
          <a:ln cap="flat" cmpd="sng" w="9525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0080FF">
              <a:alpha val="25098"/>
            </a:srgbClr>
          </a:solidFill>
          <a:ln cap="flat" cmpd="sng" w="9525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2286000" y="1828800"/>
            <a:ext cx="640080" cy="640080"/>
          </a:xfrm>
          <a:prstGeom prst="ellipse">
            <a:avLst/>
          </a:prstGeom>
          <a:solidFill>
            <a:srgbClr val="0080FF">
              <a:alpha val="30196"/>
            </a:srgbClr>
          </a:solidFill>
          <a:ln cap="flat" cmpd="sng" w="9525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365760" y="2926080"/>
            <a:ext cx="548640" cy="548640"/>
          </a:xfrm>
          <a:prstGeom prst="ellipse">
            <a:avLst/>
          </a:prstGeom>
          <a:solidFill>
            <a:srgbClr val="0080FF">
              <a:alpha val="25098"/>
            </a:srgbClr>
          </a:solidFill>
          <a:ln cap="flat" cmpd="sng" w="9525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1645920" y="3474720"/>
            <a:ext cx="822960" cy="822960"/>
          </a:xfrm>
          <a:prstGeom prst="ellipse">
            <a:avLst/>
          </a:prstGeom>
          <a:solidFill>
            <a:srgbClr val="0080FF">
              <a:alpha val="30196"/>
            </a:srgbClr>
          </a:solidFill>
          <a:ln cap="flat" cmpd="sng" w="9525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2560320" y="4114800"/>
            <a:ext cx="365760" cy="365760"/>
          </a:xfrm>
          <a:prstGeom prst="ellipse">
            <a:avLst/>
          </a:prstGeom>
          <a:solidFill>
            <a:srgbClr val="0080FF">
              <a:alpha val="20000"/>
            </a:srgbClr>
          </a:solidFill>
          <a:ln cap="flat" cmpd="sng" w="9525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0080FF">
              <a:alpha val="25098"/>
            </a:srgbClr>
          </a:solidFill>
          <a:ln cap="flat" cmpd="sng" w="9525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274320" y="16459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FNN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Regressor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3429000" y="3657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Ключевые выводы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3429000" y="960120"/>
            <a:ext cx="5394960" cy="621792"/>
          </a:xfrm>
          <a:prstGeom prst="rect">
            <a:avLst/>
          </a:prstGeom>
          <a:solidFill>
            <a:srgbClr val="0D2137"/>
          </a:solidFill>
          <a:ln cap="flat" cmpd="sng" w="9525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3429000" y="960120"/>
            <a:ext cx="73152" cy="621792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3639312" y="1014984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FNN — универсальный аппроксиматор нелинейных функций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3429000" y="1709928"/>
            <a:ext cx="5394960" cy="621792"/>
          </a:xfrm>
          <a:prstGeom prst="rect">
            <a:avLst/>
          </a:prstGeom>
          <a:solidFill>
            <a:srgbClr val="0D2137"/>
          </a:solidFill>
          <a:ln cap="flat" cmpd="sng" w="952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3429000" y="1709928"/>
            <a:ext cx="73152" cy="621792"/>
          </a:xfrm>
          <a:prstGeom prst="rect">
            <a:avLst/>
          </a:prstGeom>
          <a:solidFill>
            <a:srgbClr val="00E5A0"/>
          </a:solidFill>
          <a:ln cap="flat" cmpd="sng" w="1270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3639312" y="176479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Для регрессии: линейный выход, MSE/MAE в качестве потерь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3429000" y="2459736"/>
            <a:ext cx="5394960" cy="621792"/>
          </a:xfrm>
          <a:prstGeom prst="rect">
            <a:avLst/>
          </a:prstGeom>
          <a:solidFill>
            <a:srgbClr val="0D2137"/>
          </a:solidFill>
          <a:ln cap="flat" cmpd="sng" w="9525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3429000" y="2459736"/>
            <a:ext cx="73152" cy="621792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3639312" y="25146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Обучение через обратное распространение + Adam/SGD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3429000" y="3209544"/>
            <a:ext cx="5394960" cy="621792"/>
          </a:xfrm>
          <a:prstGeom prst="rect">
            <a:avLst/>
          </a:prstGeom>
          <a:solidFill>
            <a:srgbClr val="0D2137"/>
          </a:solidFill>
          <a:ln cap="flat" cmpd="sng" w="9525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3429000" y="3209544"/>
            <a:ext cx="73152" cy="621792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3639312" y="3264408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Регуляризация (Dropout, L2) предотвращает переобучение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3429000" y="3959352"/>
            <a:ext cx="5394960" cy="621792"/>
          </a:xfrm>
          <a:prstGeom prst="rect">
            <a:avLst/>
          </a:prstGeom>
          <a:solidFill>
            <a:srgbClr val="0D2137"/>
          </a:solidFill>
          <a:ln cap="flat" cmpd="sng" w="952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3429000" y="3959352"/>
            <a:ext cx="73152" cy="621792"/>
          </a:xfrm>
          <a:prstGeom prst="rect">
            <a:avLst/>
          </a:prstGeom>
          <a:solidFill>
            <a:srgbClr val="00E5A0"/>
          </a:solidFill>
          <a:ln cap="flat" cmpd="sng" w="1270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3639312" y="401421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D4F1"/>
                </a:solidFill>
                <a:latin typeface="Calibri"/>
                <a:ea typeface="Calibri"/>
                <a:cs typeface="Calibri"/>
                <a:sym typeface="Calibri"/>
              </a:rPr>
              <a:t>Метрики: MAE, RMSE, R² — под конкретную задачу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2026-04-30T02:51:37Z</dcterms:created>
  <dc:creator>PptxGenJS</dc:creator>
</cp:coreProperties>
</file>